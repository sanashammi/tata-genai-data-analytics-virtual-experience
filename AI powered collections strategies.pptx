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63" r:id="rId4"/>
    <p:sldId id="264" r:id="rId5"/>
    <p:sldId id="265" r:id="rId6"/>
    <p:sldId id="266" r:id="rId7"/>
    <p:sldId id="259" r:id="rId8"/>
    <p:sldId id="267" r:id="rId9"/>
    <p:sldId id="260" r:id="rId10"/>
    <p:sldId id="268" r:id="rId11"/>
    <p:sldId id="269" r:id="rId12"/>
    <p:sldId id="270" r:id="rId13"/>
    <p:sldId id="261" r:id="rId14"/>
    <p:sldId id="271" r:id="rId15"/>
    <p:sldId id="272" r:id="rId16"/>
    <p:sldId id="273" r:id="rId17"/>
    <p:sldId id="262" r:id="rId18"/>
  </p:sldIdLst>
  <p:sldSz cx="9144000" cy="5143500" type="screen16x9"/>
  <p:notesSz cx="6858000" cy="9144000"/>
  <p:embeddedFontLst>
    <p:embeddedFont>
      <p:font typeface="Roboto Slab" charset="0"/>
      <p:regular r:id="rId20"/>
      <p:bold r:id="rId21"/>
    </p:embeddedFont>
    <p:embeddedFont>
      <p:font typeface="Arial Black" pitchFamily="34" charset="0"/>
      <p:bold r:id="rId22"/>
    </p:embeddedFont>
    <p:embeddedFont>
      <p:font typeface="Roboto" charset="0"/>
      <p:regular r:id="rId23"/>
      <p:bold r:id="rId24"/>
      <p:italic r:id="rId25"/>
      <p:boldItalic r:id="rId26"/>
    </p:embeddedFont>
    <p:embeddedFont>
      <p:font typeface="Britannic Bold" pitchFamily="34" charset="0"/>
      <p:regular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83" autoAdjust="0"/>
    <p:restoredTop sz="81408"/>
  </p:normalViewPr>
  <p:slideViewPr>
    <p:cSldViewPr snapToGrid="0">
      <p:cViewPr varScale="1">
        <p:scale>
          <a:sx n="105" d="100"/>
          <a:sy n="105" d="100"/>
        </p:scale>
        <p:origin x="-341" y="-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endParaRPr lang="en-GB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endParaRPr lang="en-GB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endParaRPr lang="en-GB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endParaRPr lang="en-GB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endParaRPr lang="en-GB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Explain how agentic AI could automate financial collections while keeping humans in critical decision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examples of collection actions, and classify each as best suited for full automation or requiring human oversight, with a brief reason why.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Explain how agentic AI could automate financial collections while keeping humans in critical decision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examples of collection actions, and classify each as best suited for full automation or requiring human oversight, with a brief reason why.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key fairness, transparency, and compliance practices to build into an AI-powered credit collections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specific ways to monitor and audit the system over time to ensure it stays fair, compliant, and effective.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key fairness, transparency, and compliance practices to build into an AI-powered credit collections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specific ways to monitor and audit the system over time to ensure it stays fair, compliant, and effective.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key fairness, transparency, and compliance practices to build into an AI-powered credit collections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specific ways to monitor and audit the system over time to ensure it stays fair, compliant, and effective.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key fairness, transparency, and compliance practices to build into an AI-powered credit collections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specific ways to monitor and audit the system over time to ensure it stays fair, compliant, and effective.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KPIs for an AI-powered collections strategy that balances business outcomes with customer fairness.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Describe 2–3 ways an AI collections system could improve both operational efficiency and customer experience.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KPIs for an AI-powered collections strategy that balances business outcomes with customer fairness.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Describe 2–3 ways an AI collections system could improve both operational efficiency and customer experience.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KPIs for an AI-powered collections strategy that balances business outcomes with customer fairness.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Describe 2–3 ways an AI collections system could improve both operational efficiency and customer experience.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KPIs for an AI-powered collections strategy that balances business outcomes with customer fairness.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Describe 2–3 ways an AI collections system could improve both operational efficiency and customer experience.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AI-Powered Collections Strategy</a:t>
            </a:r>
            <a:endParaRPr sz="3000"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Leveraging Agentic AI for Scalable, Fair, and Effective Debt Management at Geldium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How the System Works</a:t>
            </a:r>
            <a:endParaRPr b="1" dirty="0"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 smtClean="0">
                <a:latin typeface="Arial Black" pitchFamily="34" charset="0"/>
              </a:rPr>
              <a:t>Inputs:</a:t>
            </a:r>
          </a:p>
          <a:p>
            <a:r>
              <a:rPr lang="en-GB" dirty="0" smtClean="0">
                <a:latin typeface="Arial" pitchFamily="34" charset="0"/>
                <a:cs typeface="Arial" pitchFamily="34" charset="0"/>
              </a:rPr>
              <a:t>Customer Demographics</a:t>
            </a:r>
          </a:p>
          <a:p>
            <a:r>
              <a:rPr lang="en-GB" dirty="0" smtClean="0">
                <a:latin typeface="Arial" pitchFamily="34" charset="0"/>
                <a:cs typeface="Arial" pitchFamily="34" charset="0"/>
              </a:rPr>
              <a:t>Payment History</a:t>
            </a:r>
          </a:p>
          <a:p>
            <a:r>
              <a:rPr lang="en-GB" dirty="0" smtClean="0">
                <a:latin typeface="Arial" pitchFamily="34" charset="0"/>
                <a:cs typeface="Arial" pitchFamily="34" charset="0"/>
              </a:rPr>
              <a:t>Credit Utilization</a:t>
            </a:r>
          </a:p>
          <a:p>
            <a:r>
              <a:rPr lang="en-GB" dirty="0" smtClean="0">
                <a:latin typeface="Arial" pitchFamily="34" charset="0"/>
                <a:cs typeface="Arial" pitchFamily="34" charset="0"/>
              </a:rPr>
              <a:t>Outstanding Balance</a:t>
            </a:r>
          </a:p>
          <a:p>
            <a:r>
              <a:rPr lang="en-GB" dirty="0" smtClean="0">
                <a:latin typeface="Arial" pitchFamily="34" charset="0"/>
                <a:cs typeface="Arial" pitchFamily="34" charset="0"/>
              </a:rPr>
              <a:t>Delinquency Records </a:t>
            </a:r>
            <a:endParaRPr lang="en-GB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GB" b="1" dirty="0" smtClean="0">
                <a:latin typeface="Arial Black" pitchFamily="34" charset="0"/>
              </a:rPr>
              <a:t> </a:t>
            </a:r>
            <a:r>
              <a:rPr lang="en-GB" b="1" dirty="0" smtClean="0">
                <a:latin typeface="Arial Black" pitchFamily="34" charset="0"/>
              </a:rPr>
              <a:t>   </a:t>
            </a:r>
            <a:endParaRPr lang="en-GB" b="1" dirty="0"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How the System Works</a:t>
            </a:r>
            <a:endParaRPr b="1" dirty="0"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 smtClean="0">
                <a:latin typeface="Arial Black" pitchFamily="34" charset="0"/>
              </a:rPr>
              <a:t>Decision Logic:</a:t>
            </a:r>
          </a:p>
          <a:p>
            <a:r>
              <a:rPr lang="en-GB" dirty="0" smtClean="0">
                <a:latin typeface="Arial" pitchFamily="34" charset="0"/>
                <a:cs typeface="Arial" pitchFamily="34" charset="0"/>
              </a:rPr>
              <a:t>AI analyzes customer data.</a:t>
            </a:r>
          </a:p>
          <a:p>
            <a:r>
              <a:rPr lang="en-GB" dirty="0" smtClean="0">
                <a:latin typeface="Arial" pitchFamily="34" charset="0"/>
                <a:cs typeface="Arial" pitchFamily="34" charset="0"/>
              </a:rPr>
              <a:t>Generates a risk score.</a:t>
            </a:r>
          </a:p>
          <a:p>
            <a:r>
              <a:rPr lang="en-GB" dirty="0" smtClean="0">
                <a:latin typeface="Arial" pitchFamily="34" charset="0"/>
                <a:cs typeface="Arial" pitchFamily="34" charset="0"/>
              </a:rPr>
              <a:t>Classifies customers as Low, Medium, 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o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r High Risk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How the System Works</a:t>
            </a:r>
            <a:endParaRPr b="1" dirty="0"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 smtClean="0">
                <a:latin typeface="Arial Black" pitchFamily="34" charset="0"/>
              </a:rPr>
              <a:t>Action Triggers</a:t>
            </a:r>
            <a:r>
              <a:rPr lang="en-GB" b="1" dirty="0" smtClean="0">
                <a:latin typeface="Arial Black" pitchFamily="34" charset="0"/>
              </a:rPr>
              <a:t>:</a:t>
            </a:r>
          </a:p>
          <a:p>
            <a:r>
              <a:rPr lang="en-GB" dirty="0" smtClean="0">
                <a:latin typeface="Arial" pitchFamily="34" charset="0"/>
                <a:cs typeface="Arial" pitchFamily="34" charset="0"/>
              </a:rPr>
              <a:t>Low Risk: Automated payment reminders.</a:t>
            </a:r>
          </a:p>
          <a:p>
            <a:r>
              <a:rPr lang="en-GB" dirty="0" smtClean="0">
                <a:latin typeface="Arial" pitchFamily="34" charset="0"/>
                <a:cs typeface="Arial" pitchFamily="34" charset="0"/>
              </a:rPr>
              <a:t>Medium Risk: Personalized repayment offers.</a:t>
            </a:r>
          </a:p>
          <a:p>
            <a:r>
              <a:rPr lang="en-GB" dirty="0" smtClean="0">
                <a:latin typeface="Arial" pitchFamily="34" charset="0"/>
                <a:cs typeface="Arial" pitchFamily="34" charset="0"/>
              </a:rPr>
              <a:t>High Risk: Collections specialist review and hardship assistance.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How the System Works</a:t>
            </a:r>
            <a:endParaRPr b="1" dirty="0"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 smtClean="0">
                <a:latin typeface="Arial Black" pitchFamily="34" charset="0"/>
              </a:rPr>
              <a:t>Learning Loop:</a:t>
            </a:r>
          </a:p>
          <a:p>
            <a:r>
              <a:rPr lang="en-GB" dirty="0" smtClean="0">
                <a:latin typeface="Arial" pitchFamily="34" charset="0"/>
                <a:cs typeface="Arial" pitchFamily="34" charset="0"/>
              </a:rPr>
              <a:t>Monitor repayment behaviour.</a:t>
            </a:r>
          </a:p>
          <a:p>
            <a:r>
              <a:rPr lang="en-GB" dirty="0" smtClean="0">
                <a:latin typeface="Arial" pitchFamily="34" charset="0"/>
                <a:cs typeface="Arial" pitchFamily="34" charset="0"/>
              </a:rPr>
              <a:t>Track collection outcomes.</a:t>
            </a:r>
          </a:p>
          <a:p>
            <a:r>
              <a:rPr lang="en-GB" dirty="0" smtClean="0">
                <a:latin typeface="Arial" pitchFamily="34" charset="0"/>
                <a:cs typeface="Arial" pitchFamily="34" charset="0"/>
              </a:rPr>
              <a:t>Update customer risk profiles.</a:t>
            </a:r>
          </a:p>
          <a:p>
            <a:r>
              <a:rPr lang="en-GB" dirty="0" smtClean="0">
                <a:latin typeface="Arial" pitchFamily="34" charset="0"/>
                <a:cs typeface="Arial" pitchFamily="34" charset="0"/>
              </a:rPr>
              <a:t>Retain the model with new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How the System Works</a:t>
            </a:r>
            <a:endParaRPr b="1" dirty="0"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 smtClean="0">
                <a:latin typeface="Arial Black" pitchFamily="34" charset="0"/>
              </a:rPr>
              <a:t>Workflow</a:t>
            </a:r>
            <a:r>
              <a:rPr lang="en-GB" b="1" dirty="0" smtClean="0">
                <a:latin typeface="Arial Black" pitchFamily="34" charset="0"/>
              </a:rPr>
              <a:t>:</a:t>
            </a:r>
          </a:p>
          <a:p>
            <a:pPr>
              <a:buNone/>
            </a:pPr>
            <a:r>
              <a:rPr lang="en-GB" b="1" dirty="0" smtClean="0">
                <a:latin typeface="Arial Black" pitchFamily="34" charset="0"/>
              </a:rPr>
              <a:t> </a:t>
            </a:r>
            <a:r>
              <a:rPr lang="en-GB" b="1" dirty="0" smtClean="0">
                <a:latin typeface="Arial Black" pitchFamily="34" charset="0"/>
              </a:rPr>
              <a:t> </a:t>
            </a:r>
          </a:p>
          <a:p>
            <a:pPr>
              <a:buNone/>
            </a:pPr>
            <a:r>
              <a:rPr lang="en-GB" b="1" dirty="0" smtClean="0">
                <a:latin typeface="Arial Black" pitchFamily="34" charset="0"/>
              </a:rPr>
              <a:t> </a:t>
            </a:r>
            <a:r>
              <a:rPr lang="en-GB" b="1" dirty="0" smtClean="0">
                <a:latin typeface="Arial Black" pitchFamily="34" charset="0"/>
              </a:rPr>
              <a:t>   </a:t>
            </a:r>
            <a:r>
              <a:rPr lang="en-GB" b="1" dirty="0" smtClean="0">
                <a:latin typeface="Arial Black" pitchFamily="34" charset="0"/>
              </a:rPr>
              <a:t> 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Customer Data          Risk Assessment           Risk Classification</a:t>
            </a:r>
          </a:p>
          <a:p>
            <a:pPr>
              <a:buNone/>
            </a:pPr>
            <a:r>
              <a:rPr lang="en-GB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GB" b="1" dirty="0" smtClean="0">
                <a:latin typeface="Arial" pitchFamily="34" charset="0"/>
                <a:cs typeface="Arial" pitchFamily="34" charset="0"/>
              </a:rPr>
              <a:t>     </a:t>
            </a:r>
          </a:p>
          <a:p>
            <a:pPr>
              <a:buNone/>
            </a:pPr>
            <a:r>
              <a:rPr lang="en-GB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GB" b="1" dirty="0" smtClean="0">
                <a:latin typeface="Arial" pitchFamily="34" charset="0"/>
                <a:cs typeface="Arial" pitchFamily="34" charset="0"/>
              </a:rPr>
              <a:t>     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Collection Action        Outcome Tracking         Model Improvement</a:t>
            </a:r>
            <a:endParaRPr lang="en-GB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ight Arrow 4"/>
          <p:cNvSpPr/>
          <p:nvPr/>
        </p:nvSpPr>
        <p:spPr>
          <a:xfrm>
            <a:off x="2728685" y="2278744"/>
            <a:ext cx="312057" cy="246743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Arrow 5"/>
          <p:cNvSpPr/>
          <p:nvPr/>
        </p:nvSpPr>
        <p:spPr>
          <a:xfrm>
            <a:off x="5079999" y="2271487"/>
            <a:ext cx="312057" cy="246743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/>
          <p:cNvSpPr/>
          <p:nvPr/>
        </p:nvSpPr>
        <p:spPr>
          <a:xfrm>
            <a:off x="7612742" y="2271487"/>
            <a:ext cx="312057" cy="246743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>
            <a:off x="2801256" y="2873830"/>
            <a:ext cx="312057" cy="246743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/>
          <p:cNvSpPr/>
          <p:nvPr/>
        </p:nvSpPr>
        <p:spPr>
          <a:xfrm>
            <a:off x="5232399" y="2888344"/>
            <a:ext cx="312057" cy="246743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Role of Agentic AI</a:t>
            </a:r>
            <a:endParaRPr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73200" y="1625600"/>
          <a:ext cx="6386286" cy="3367314"/>
        </p:xfrm>
        <a:graphic>
          <a:graphicData uri="http://schemas.openxmlformats.org/drawingml/2006/table">
            <a:tbl>
              <a:tblPr firstRow="1" bandRow="1">
                <a:tableStyleId>{2E584E98-F22C-4E6F-8C55-6CFEC2229C57}</a:tableStyleId>
              </a:tblPr>
              <a:tblGrid>
                <a:gridCol w="3193143"/>
                <a:gridCol w="3193143"/>
              </a:tblGrid>
              <a:tr h="561219">
                <a:tc>
                  <a:txBody>
                    <a:bodyPr/>
                    <a:lstStyle/>
                    <a:p>
                      <a:r>
                        <a:rPr lang="en-US" b="1" dirty="0" smtClean="0"/>
                        <a:t>       Autonomous(AI-Driven)</a:t>
                      </a:r>
                      <a:endParaRPr lang="en-US" b="1" dirty="0"/>
                    </a:p>
                  </a:txBody>
                  <a:tcPr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            Human Oversight</a:t>
                      </a:r>
                      <a:endParaRPr lang="en-US" b="1" dirty="0"/>
                    </a:p>
                  </a:txBody>
                  <a:tcPr>
                    <a:solidFill>
                      <a:schemeClr val="tx1">
                        <a:lumMod val="65000"/>
                      </a:schemeClr>
                    </a:solidFill>
                  </a:tcPr>
                </a:tc>
              </a:tr>
              <a:tr h="561219">
                <a:tc>
                  <a:txBody>
                    <a:bodyPr/>
                    <a:lstStyle/>
                    <a:p>
                      <a:r>
                        <a:rPr lang="en-US" dirty="0" smtClean="0"/>
                        <a:t>Classifies</a:t>
                      </a:r>
                      <a:r>
                        <a:rPr lang="en-US" baseline="0" dirty="0" smtClean="0"/>
                        <a:t> customers into low, medium, and high-risk groups.</a:t>
                      </a:r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Review high risk customer</a:t>
                      </a:r>
                      <a:r>
                        <a:rPr lang="en-US" baseline="0" dirty="0" smtClean="0"/>
                        <a:t> cases before major actions.</a:t>
                      </a:r>
                      <a:endParaRPr lang="en-US" dirty="0"/>
                    </a:p>
                  </a:txBody>
                  <a:tcPr>
                    <a:noFill/>
                  </a:tcPr>
                </a:tc>
              </a:tr>
              <a:tr h="561219">
                <a:tc>
                  <a:txBody>
                    <a:bodyPr/>
                    <a:lstStyle/>
                    <a:p>
                      <a:r>
                        <a:rPr lang="en-US" dirty="0" smtClean="0"/>
                        <a:t>Sends automated payment</a:t>
                      </a:r>
                      <a:r>
                        <a:rPr lang="en-US" baseline="0" dirty="0" smtClean="0"/>
                        <a:t> reminders via SMS/email.</a:t>
                      </a:r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Approves hardship</a:t>
                      </a:r>
                      <a:r>
                        <a:rPr lang="en-US" baseline="0" dirty="0" smtClean="0"/>
                        <a:t> plans and payment restructuring.</a:t>
                      </a:r>
                      <a:endParaRPr lang="en-US" dirty="0"/>
                    </a:p>
                  </a:txBody>
                  <a:tcPr>
                    <a:noFill/>
                  </a:tcPr>
                </a:tc>
              </a:tr>
              <a:tr h="561219">
                <a:tc>
                  <a:txBody>
                    <a:bodyPr/>
                    <a:lstStyle/>
                    <a:p>
                      <a:r>
                        <a:rPr lang="en-US" dirty="0" smtClean="0"/>
                        <a:t>Recommends the best communication</a:t>
                      </a:r>
                      <a:r>
                        <a:rPr lang="en-US" baseline="0" dirty="0" smtClean="0"/>
                        <a:t> channel and timing.</a:t>
                      </a:r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Handles customer disputes and complaints.</a:t>
                      </a:r>
                      <a:endParaRPr lang="en-US" dirty="0"/>
                    </a:p>
                  </a:txBody>
                  <a:tcPr>
                    <a:noFill/>
                  </a:tcPr>
                </a:tc>
              </a:tr>
              <a:tr h="561219">
                <a:tc>
                  <a:txBody>
                    <a:bodyPr/>
                    <a:lstStyle/>
                    <a:p>
                      <a:r>
                        <a:rPr lang="en-US" dirty="0" smtClean="0"/>
                        <a:t>Tracks repayment behavior and updates risk</a:t>
                      </a:r>
                      <a:r>
                        <a:rPr lang="en-US" baseline="0" dirty="0" smtClean="0"/>
                        <a:t> scores.</a:t>
                      </a:r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Monitors fairness and compliance of AI decisions.</a:t>
                      </a:r>
                      <a:endParaRPr lang="en-US" dirty="0"/>
                    </a:p>
                  </a:txBody>
                  <a:tcPr>
                    <a:noFill/>
                  </a:tcPr>
                </a:tc>
              </a:tr>
              <a:tr h="561219">
                <a:tc>
                  <a:txBody>
                    <a:bodyPr/>
                    <a:lstStyle/>
                    <a:p>
                      <a:r>
                        <a:rPr lang="en-US" dirty="0" smtClean="0"/>
                        <a:t>Generates performance reports and alerts.</a:t>
                      </a:r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Review model performance and approves updates.</a:t>
                      </a:r>
                      <a:endParaRPr 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Role of Agentic AI</a:t>
            </a:r>
            <a:endParaRPr b="1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1734456"/>
            <a:ext cx="7968343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tx1"/>
                </a:solidFill>
              </a:rPr>
              <a:t>Key message</a:t>
            </a:r>
            <a:r>
              <a:rPr lang="en-US" dirty="0" smtClean="0">
                <a:solidFill>
                  <a:schemeClr val="tx1"/>
                </a:solidFill>
              </a:rPr>
              <a:t>: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        </a:t>
            </a:r>
            <a:r>
              <a:rPr lang="en-US" b="1" dirty="0" smtClean="0">
                <a:solidFill>
                  <a:schemeClr val="tx1"/>
                </a:solidFill>
              </a:rPr>
              <a:t>The AI system automates routine collection activities, while human experts oversee                       </a:t>
            </a:r>
          </a:p>
          <a:p>
            <a:r>
              <a:rPr lang="en-US" b="1" dirty="0" smtClean="0">
                <a:solidFill>
                  <a:schemeClr val="tx1"/>
                </a:solidFill>
              </a:rPr>
              <a:t>complex, high-impact, and sensitive decisions to ensure fairness and compliance.</a:t>
            </a:r>
            <a:endParaRPr lang="en-US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Responsible AI Guardrails</a:t>
            </a:r>
            <a:endParaRPr b="1" dirty="0"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 smtClean="0"/>
              <a:t>Fairness &amp; Bias Monitoring:</a:t>
            </a:r>
          </a:p>
          <a:p>
            <a:endParaRPr lang="en-GB" sz="1600" b="1" dirty="0" smtClean="0"/>
          </a:p>
          <a:p>
            <a:r>
              <a:rPr lang="en-GB" sz="1600" b="1" dirty="0" smtClean="0"/>
              <a:t>Regularly test the model to ensure customers are treated fairly across different groups.</a:t>
            </a:r>
          </a:p>
          <a:p>
            <a:r>
              <a:rPr lang="en-GB" sz="1600" b="1" dirty="0" smtClean="0"/>
              <a:t>Prevent discrimination based on age, gender, or other protected characteristics.</a:t>
            </a:r>
          </a:p>
          <a:p>
            <a:pPr>
              <a:buNone/>
            </a:pPr>
            <a:endParaRPr lang="en-GB" sz="1600" b="1" dirty="0">
              <a:latin typeface="+mj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Responsible AI Guardrails</a:t>
            </a:r>
            <a:endParaRPr b="1" dirty="0"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 err="1" smtClean="0"/>
              <a:t>Explainability</a:t>
            </a:r>
            <a:r>
              <a:rPr lang="en-GB" b="1" dirty="0" smtClean="0"/>
              <a:t>  &amp; Transparency</a:t>
            </a:r>
            <a:r>
              <a:rPr lang="en-GB" b="1" dirty="0" smtClean="0"/>
              <a:t>:</a:t>
            </a:r>
          </a:p>
          <a:p>
            <a:endParaRPr lang="en-GB" sz="1600" b="1" dirty="0" smtClean="0"/>
          </a:p>
          <a:p>
            <a:r>
              <a:rPr lang="en-GB" sz="1600" b="1" dirty="0" smtClean="0"/>
              <a:t>Provide clear reasons for each risk score and collection action.</a:t>
            </a:r>
          </a:p>
          <a:p>
            <a:r>
              <a:rPr lang="en-GB" sz="1600" b="1" dirty="0" smtClean="0"/>
              <a:t>Enable collections staff to understand and explain AI decisions</a:t>
            </a:r>
            <a:r>
              <a:rPr lang="en-GB" sz="1600" b="1" dirty="0" smtClean="0"/>
              <a:t>.</a:t>
            </a:r>
          </a:p>
          <a:p>
            <a:pPr>
              <a:buNone/>
            </a:pPr>
            <a:endParaRPr lang="en-GB" sz="1600" b="1" dirty="0">
              <a:latin typeface="+mj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Responsible AI Guardrails</a:t>
            </a:r>
            <a:endParaRPr b="1" dirty="0"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 smtClean="0"/>
              <a:t>Human-in-the-Loop Oversight:</a:t>
            </a:r>
          </a:p>
          <a:p>
            <a:endParaRPr lang="en-GB" sz="1600" b="1" dirty="0" smtClean="0"/>
          </a:p>
          <a:p>
            <a:r>
              <a:rPr lang="en-GB" sz="1600" b="1" dirty="0" smtClean="0"/>
              <a:t>Require human review for high-risk cases, hardship requests, and customer disputes.</a:t>
            </a:r>
          </a:p>
          <a:p>
            <a:r>
              <a:rPr lang="en-GB" sz="1600" b="1" dirty="0" smtClean="0"/>
              <a:t>Allow staffs to override AI recommendations when necessary.</a:t>
            </a:r>
          </a:p>
          <a:p>
            <a:pPr>
              <a:buNone/>
            </a:pPr>
            <a:endParaRPr lang="en-GB" sz="1600" b="1" dirty="0">
              <a:latin typeface="+mj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Responsible AI Guardrails</a:t>
            </a:r>
            <a:endParaRPr b="1" dirty="0"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 smtClean="0"/>
              <a:t>Privacy &amp; Regulatory Compliance</a:t>
            </a:r>
            <a:r>
              <a:rPr lang="en-GB" b="1" dirty="0" smtClean="0"/>
              <a:t>:</a:t>
            </a:r>
          </a:p>
          <a:p>
            <a:endParaRPr lang="en-GB" sz="1600" b="1" dirty="0" smtClean="0"/>
          </a:p>
          <a:p>
            <a:r>
              <a:rPr lang="en-GB" sz="1600" b="1" dirty="0" smtClean="0"/>
              <a:t>Protect customer data through secure storage and access controls.</a:t>
            </a:r>
          </a:p>
          <a:p>
            <a:r>
              <a:rPr lang="en-GB" sz="1600" b="1" dirty="0" smtClean="0"/>
              <a:t>Ensure compliance with financial regulations and data privacy laws</a:t>
            </a:r>
            <a:r>
              <a:rPr lang="en-GB" sz="1600" b="1" dirty="0" smtClean="0"/>
              <a:t>.</a:t>
            </a:r>
          </a:p>
          <a:p>
            <a:pPr>
              <a:buNone/>
            </a:pPr>
            <a:endParaRPr lang="en-GB" sz="1600" b="1" dirty="0">
              <a:latin typeface="+mj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Expected Business Impact</a:t>
            </a:r>
            <a:endParaRPr b="1" dirty="0"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sz="1600" b="1" dirty="0" smtClean="0"/>
              <a:t>Business KPIs</a:t>
            </a:r>
            <a:r>
              <a:rPr lang="en-GB" sz="1600" dirty="0" smtClean="0"/>
              <a:t>:</a:t>
            </a:r>
          </a:p>
          <a:p>
            <a:endParaRPr lang="en-GB" sz="1600" dirty="0" smtClean="0"/>
          </a:p>
          <a:p>
            <a:r>
              <a:rPr lang="en-GB" sz="1600" dirty="0" smtClean="0">
                <a:latin typeface="Arial" pitchFamily="34" charset="0"/>
                <a:cs typeface="Arial" pitchFamily="34" charset="0"/>
              </a:rPr>
              <a:t>Reduce delinquency rates by 10 – 15% through early intervention.</a:t>
            </a:r>
          </a:p>
          <a:p>
            <a:r>
              <a:rPr lang="en-GB" sz="1600" dirty="0" smtClean="0">
                <a:latin typeface="Arial" pitchFamily="34" charset="0"/>
                <a:cs typeface="Arial" pitchFamily="34" charset="0"/>
              </a:rPr>
              <a:t>Increase repayment rates by 15-20% using personalized reminders and payment plans.</a:t>
            </a:r>
          </a:p>
          <a:p>
            <a:r>
              <a:rPr lang="en-GB" sz="1600" dirty="0" smtClean="0">
                <a:latin typeface="Arial" pitchFamily="34" charset="0"/>
                <a:cs typeface="Arial" pitchFamily="34" charset="0"/>
              </a:rPr>
              <a:t>Reduce collections operating costs through automation of routine tasks.</a:t>
            </a:r>
          </a:p>
          <a:p>
            <a:r>
              <a:rPr lang="en-GB" sz="1600" dirty="0" smtClean="0">
                <a:latin typeface="Arial" pitchFamily="34" charset="0"/>
                <a:cs typeface="Arial" pitchFamily="34" charset="0"/>
              </a:rPr>
              <a:t>Improve collections team productivity by focusing staff on high-risk accounts.</a:t>
            </a:r>
            <a:endParaRPr lang="en-GB" sz="16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Expected Business Impact</a:t>
            </a:r>
            <a:endParaRPr b="1" dirty="0"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sz="1600" b="1" dirty="0" smtClean="0"/>
              <a:t>Customer Outcomes</a:t>
            </a:r>
            <a:r>
              <a:rPr lang="en-GB" sz="1600" dirty="0" smtClean="0"/>
              <a:t>:</a:t>
            </a:r>
          </a:p>
          <a:p>
            <a:endParaRPr lang="en-GB" sz="1600" dirty="0" smtClean="0"/>
          </a:p>
          <a:p>
            <a:r>
              <a:rPr lang="en-GB" sz="1600" dirty="0" smtClean="0">
                <a:latin typeface="Arial" pitchFamily="34" charset="0"/>
                <a:cs typeface="Arial" pitchFamily="34" charset="0"/>
              </a:rPr>
              <a:t>Personalized communication based on customer risk levels.</a:t>
            </a:r>
          </a:p>
          <a:p>
            <a:r>
              <a:rPr lang="en-GB" sz="1600" dirty="0" smtClean="0">
                <a:latin typeface="Arial" pitchFamily="34" charset="0"/>
                <a:cs typeface="Arial" pitchFamily="34" charset="0"/>
              </a:rPr>
              <a:t>Fair and consistent treatment through AI-driven decision rules</a:t>
            </a:r>
            <a:r>
              <a:rPr lang="en-GB" sz="16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r>
              <a:rPr lang="en-GB" sz="1600" dirty="0" smtClean="0">
                <a:latin typeface="Arial" pitchFamily="34" charset="0"/>
                <a:cs typeface="Arial" pitchFamily="34" charset="0"/>
              </a:rPr>
              <a:t>Faster support and flexible repayment options for customers facing hardship.</a:t>
            </a:r>
          </a:p>
          <a:p>
            <a:r>
              <a:rPr lang="en-GB" sz="1600" dirty="0" smtClean="0">
                <a:latin typeface="Arial" pitchFamily="34" charset="0"/>
                <a:cs typeface="Arial" pitchFamily="34" charset="0"/>
              </a:rPr>
              <a:t>Improved customer trust and satisfaction through transparent decision-making.</a:t>
            </a:r>
            <a:endParaRPr lang="en-GB" sz="16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 smtClean="0"/>
              <a:t>Conclusion &amp; Recommendations</a:t>
            </a:r>
            <a:endParaRPr b="1" dirty="0"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sz="1600" b="1" dirty="0" smtClean="0"/>
              <a:t>Conclusion</a:t>
            </a:r>
            <a:r>
              <a:rPr lang="en-GB" sz="1600" dirty="0" smtClean="0"/>
              <a:t>:</a:t>
            </a:r>
          </a:p>
          <a:p>
            <a:endParaRPr lang="en-GB" sz="1600" dirty="0" smtClean="0"/>
          </a:p>
          <a:p>
            <a:r>
              <a:rPr lang="en-GB" sz="1600" dirty="0" smtClean="0">
                <a:latin typeface="Arial" pitchFamily="34" charset="0"/>
                <a:cs typeface="Arial" pitchFamily="34" charset="0"/>
              </a:rPr>
              <a:t>The AI-powered collections system enables proactive identification of at-risk customers.</a:t>
            </a:r>
          </a:p>
          <a:p>
            <a:r>
              <a:rPr lang="en-GB" sz="1600" dirty="0" smtClean="0">
                <a:latin typeface="Arial" pitchFamily="34" charset="0"/>
                <a:cs typeface="Arial" pitchFamily="34" charset="0"/>
              </a:rPr>
              <a:t>Automated interventions improve repayment rates while reducing operational costs.</a:t>
            </a:r>
          </a:p>
          <a:p>
            <a:r>
              <a:rPr lang="en-GB" sz="1600" dirty="0" smtClean="0">
                <a:latin typeface="Arial" pitchFamily="34" charset="0"/>
                <a:cs typeface="Arial" pitchFamily="34" charset="0"/>
              </a:rPr>
              <a:t>Responsible AI practices ensure fairness, transparency, and regulatory compliance.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 smtClean="0"/>
              <a:t>Conclusion &amp; Recommendations</a:t>
            </a:r>
            <a:endParaRPr b="1" dirty="0"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sz="1600" b="1" dirty="0" smtClean="0"/>
              <a:t>Recommendations</a:t>
            </a:r>
            <a:r>
              <a:rPr lang="en-GB" sz="1600" dirty="0" smtClean="0"/>
              <a:t>:</a:t>
            </a:r>
          </a:p>
          <a:p>
            <a:endParaRPr lang="en-GB" sz="1600" dirty="0" smtClean="0"/>
          </a:p>
          <a:p>
            <a:r>
              <a:rPr lang="en-GB" sz="1600" dirty="0" smtClean="0">
                <a:latin typeface="Arial" pitchFamily="34" charset="0"/>
                <a:cs typeface="Arial" pitchFamily="34" charset="0"/>
              </a:rPr>
              <a:t>Deploy the predictive model to segment customers by risk level.</a:t>
            </a:r>
          </a:p>
          <a:p>
            <a:r>
              <a:rPr lang="en-GB" sz="1600" dirty="0" smtClean="0">
                <a:latin typeface="Arial" pitchFamily="34" charset="0"/>
                <a:cs typeface="Arial" pitchFamily="34" charset="0"/>
              </a:rPr>
              <a:t>Use automated reminders for low-risk customers and personalized support for high-risk customers</a:t>
            </a:r>
            <a:r>
              <a:rPr lang="en-GB" sz="16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r>
              <a:rPr lang="en-GB" sz="1600" dirty="0" smtClean="0">
                <a:latin typeface="Arial" pitchFamily="34" charset="0"/>
                <a:cs typeface="Arial" pitchFamily="34" charset="0"/>
              </a:rPr>
              <a:t>Continuously monitor model performance, fairness and customer outcomes.</a:t>
            </a:r>
          </a:p>
          <a:p>
            <a:r>
              <a:rPr lang="en-GB" sz="1600" dirty="0" smtClean="0">
                <a:latin typeface="Arial" pitchFamily="34" charset="0"/>
                <a:cs typeface="Arial" pitchFamily="34" charset="0"/>
              </a:rPr>
              <a:t>Maintain human oversight for critical decisions and hardship cases.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754743" y="1944914"/>
            <a:ext cx="71990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smtClean="0">
                <a:solidFill>
                  <a:schemeClr val="tx1"/>
                </a:solidFill>
                <a:latin typeface="Britannic Bold" pitchFamily="34" charset="0"/>
              </a:rPr>
              <a:t>“Thank You”</a:t>
            </a:r>
            <a:endParaRPr lang="en-US" sz="5400" b="1" dirty="0">
              <a:solidFill>
                <a:schemeClr val="tx1"/>
              </a:solidFill>
              <a:latin typeface="Britannic Bold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812971" y="3367314"/>
            <a:ext cx="101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Britannic Bold" pitchFamily="34" charset="0"/>
                <a:cs typeface="Arial" pitchFamily="34" charset="0"/>
              </a:rPr>
              <a:t>Sana  S</a:t>
            </a:r>
            <a:endParaRPr lang="en-US" b="1" dirty="0">
              <a:solidFill>
                <a:schemeClr val="tx1"/>
              </a:solidFill>
              <a:latin typeface="Britannic Bold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56971" y="4753429"/>
            <a:ext cx="4274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Britannic Bold" pitchFamily="34" charset="0"/>
              </a:rPr>
              <a:t>“Questions &amp; Discussion”</a:t>
            </a:r>
            <a:endParaRPr lang="en-US" dirty="0">
              <a:solidFill>
                <a:schemeClr val="tx1"/>
              </a:solidFill>
              <a:latin typeface="Britannic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890219242"/>
      </p:ext>
    </p:extLst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1210</TotalTime>
  <Words>984</Words>
  <Application>Microsoft Office PowerPoint</Application>
  <PresentationFormat>On-screen Show (16:9)</PresentationFormat>
  <Paragraphs>129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Roboto Slab</vt:lpstr>
      <vt:lpstr>Arial Black</vt:lpstr>
      <vt:lpstr>Roboto</vt:lpstr>
      <vt:lpstr>Britannic Bold</vt:lpstr>
      <vt:lpstr>Marina</vt:lpstr>
      <vt:lpstr>AI-Powered Collections Strategy</vt:lpstr>
      <vt:lpstr>How the System Works</vt:lpstr>
      <vt:lpstr>How the System Works</vt:lpstr>
      <vt:lpstr>How the System Works</vt:lpstr>
      <vt:lpstr>How the System Works</vt:lpstr>
      <vt:lpstr>How the System Works</vt:lpstr>
      <vt:lpstr>Role of Agentic AI</vt:lpstr>
      <vt:lpstr>Role of Agentic AI</vt:lpstr>
      <vt:lpstr>Responsible AI Guardrails</vt:lpstr>
      <vt:lpstr>Responsible AI Guardrails</vt:lpstr>
      <vt:lpstr>Responsible AI Guardrails</vt:lpstr>
      <vt:lpstr>Responsible AI Guardrails</vt:lpstr>
      <vt:lpstr>Expected Business Impact</vt:lpstr>
      <vt:lpstr>Expected Business Impact</vt:lpstr>
      <vt:lpstr>Conclusion &amp; Recommendations</vt:lpstr>
      <vt:lpstr>Conclusion &amp; Recommendations</vt:lpstr>
      <vt:lpstr>Slide 17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Collections Strategy</dc:title>
  <dc:creator>Acer</dc:creator>
  <cp:lastModifiedBy>Acer</cp:lastModifiedBy>
  <cp:revision>18</cp:revision>
  <dcterms:modified xsi:type="dcterms:W3CDTF">2026-06-17T06:29:57Z</dcterms:modified>
</cp:coreProperties>
</file>